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F4E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1A2F4E"/>
                </a:solidFill>
                <a:latin typeface="Arial"/>
              </a:rPr>
              <a:t>Distribución PRODUCTO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FFB-46EC-B52F-16298EEE9274}"/>
              </c:ext>
            </c:extLst>
          </c:dPt>
          <c:dPt>
            <c:idx val="1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FB-46EC-B52F-16298EEE9274}"/>
              </c:ext>
            </c:extLst>
          </c:dPt>
          <c:dPt>
            <c:idx val="2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FB-46EC-B52F-16298EEE9274}"/>
              </c:ext>
            </c:extLst>
          </c:dPt>
          <c:dPt>
            <c:idx val="3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FB-46EC-B52F-16298EEE927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FB-46EC-B52F-16298EEE927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FB-46EC-B52F-16298EEE927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FFB-46EC-B52F-16298EEE927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FB-46EC-B52F-16298EEE927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CLASICA (36.2%)</c:v>
                </c:pt>
                <c:pt idx="1">
                  <c:v>PENDIENTE (62.3%)</c:v>
                </c:pt>
                <c:pt idx="2">
                  <c:v>CREDITO AUTO (0.9%)</c:v>
                </c:pt>
                <c:pt idx="3">
                  <c:v>TARJETA ORO (0.6%)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36.200000000000003</c:v>
                </c:pt>
                <c:pt idx="1">
                  <c:v>62.3</c:v>
                </c:pt>
                <c:pt idx="2">
                  <c:v>0.9</c:v>
                </c:pt>
                <c:pt idx="3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FB-46EC-B52F-16298EEE92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A6-4923-A12A-A93E979AE23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A6-4923-A12A-A93E979AE23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8A6-4923-A12A-A93E979AE239}"/>
              </c:ext>
            </c:extLst>
          </c:dPt>
          <c:dPt>
            <c:idx val="3"/>
            <c:invertIfNegative val="0"/>
            <c:bubble3D val="0"/>
            <c:spPr>
              <a:solidFill>
                <a:srgbClr val="E88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A6-4923-A12A-A93E979AE239}"/>
              </c:ext>
            </c:extLst>
          </c:dPt>
          <c:dPt>
            <c:idx val="4"/>
            <c:invertIfNegative val="0"/>
            <c:bubble3D val="0"/>
            <c:spPr>
              <a:solidFill>
                <a:srgbClr val="E88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8A6-4923-A12A-A93E979AE23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F4E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SCORE COMBINADO</c:v>
                </c:pt>
                <c:pt idx="1">
                  <c:v>SCORE CLIENTE</c:v>
                </c:pt>
                <c:pt idx="2">
                  <c:v>SOLICITUDES RECHAZ.</c:v>
                </c:pt>
                <c:pt idx="3">
                  <c:v>CAPACIDAD PAGO</c:v>
                </c:pt>
                <c:pt idx="4">
                  <c:v>SCORE COMPORTAM.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24.3</c:v>
                </c:pt>
                <c:pt idx="1">
                  <c:v>23.6</c:v>
                </c:pt>
                <c:pt idx="2">
                  <c:v>10.3</c:v>
                </c:pt>
                <c:pt idx="3">
                  <c:v>8.6</c:v>
                </c:pt>
                <c:pt idx="4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8A6-4923-A12A-A93E979AE2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2A-4F0B-904E-FD94FE692BA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F2A-4F0B-904E-FD94FE692BAA}"/>
              </c:ext>
            </c:extLst>
          </c:dPt>
          <c:dPt>
            <c:idx val="2"/>
            <c:invertIfNegative val="0"/>
            <c:bubble3D val="0"/>
            <c:spPr>
              <a:solidFill>
                <a:srgbClr val="70B2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F2A-4F0B-904E-FD94FE692BAA}"/>
              </c:ext>
            </c:extLst>
          </c:dPt>
          <c:dPt>
            <c:idx val="3"/>
            <c:invertIfNegative val="0"/>
            <c:bubble3D val="0"/>
            <c:spPr>
              <a:solidFill>
                <a:srgbClr val="70B2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F2A-4F0B-904E-FD94FE692BAA}"/>
              </c:ext>
            </c:extLst>
          </c:dPt>
          <c:dPt>
            <c:idx val="4"/>
            <c:invertIfNegative val="0"/>
            <c:bubble3D val="0"/>
            <c:spPr>
              <a:solidFill>
                <a:srgbClr val="70B2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F2A-4F0B-904E-FD94FE692BA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F4E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 CREDITO FINAL</c:v>
                </c:pt>
                <c:pt idx="1">
                  <c:v>SALDO CUENTA</c:v>
                </c:pt>
                <c:pt idx="2">
                  <c:v>INGRESO INFERIDO</c:v>
                </c:pt>
                <c:pt idx="3">
                  <c:v>CAPACIDAD TC</c:v>
                </c:pt>
                <c:pt idx="4">
                  <c:v>CAPACIDAD PAGO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30.7</c:v>
                </c:pt>
                <c:pt idx="1">
                  <c:v>15.7</c:v>
                </c:pt>
                <c:pt idx="2">
                  <c:v>6.2</c:v>
                </c:pt>
                <c:pt idx="3">
                  <c:v>4.4000000000000004</c:v>
                </c:pt>
                <c:pt idx="4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F2A-4F0B-904E-FD94FE692B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5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1280160"/>
            <a:ext cx="164592" cy="310896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AUTÓNOMA DE MÉXICO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3840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 ·  Minería de Datos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de Crédito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294436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predictivo del portafolio bancario mediante Machine Learning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343400"/>
            <a:ext cx="8412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74320" y="4416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Integrante 1     ·     Nombre Integrante 2     ·     Nombre Integrante 3     ·     Nombre Integrante 4     ·     Nombre Integrante 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6817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64592" y="109728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01752" y="12070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01752" y="1691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ejecución del proyecto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99232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999232" y="109728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136392" y="12070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36392" y="1691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Objetivos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36392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del área de Productos de Crédito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33872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833872" y="109728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971032" y="12070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71032" y="1691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71032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calidad y variables clave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164592" y="27889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01752" y="28986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01752" y="3383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construidas para el modelado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99232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2999232" y="27889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3136392" y="28986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136392" y="3383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36392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y asignación de producto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33872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5833872" y="27889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5971032" y="28986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971032" y="3383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Propuesta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71032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y recomendaciones de negocio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182880" y="182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371600" y="822960"/>
            <a:ext cx="6858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371600" y="822960"/>
            <a:ext cx="54864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55448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26187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áreas directivas simuladas, cada una con estrategia propia y un director de área en comité organizacional.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103120"/>
            <a:ext cx="6858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1371600" y="2103120"/>
            <a:ext cx="54864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55448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rol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54203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Crédito: identificar los productos con mejor margen y maximizar su colocación.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383280"/>
            <a:ext cx="6858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371600" y="3383280"/>
            <a:ext cx="54864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55448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82219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bancaria compartida: 4,349 solicitudes de crédito, 27 variables originales.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ejecución del proyecto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 ·  Planeado vs Real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3200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56032" y="10058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005840"/>
            <a:ext cx="35204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67512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005840"/>
            <a:ext cx="13258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279392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1005840"/>
            <a:ext cx="13258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696712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005840"/>
            <a:ext cx="13258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114032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1399032"/>
            <a:ext cx="320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94360" y="1399032"/>
            <a:ext cx="3520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206240" y="139903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623560" y="139903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7040880" y="139903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256032" y="1417320"/>
            <a:ext cx="228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1417320"/>
            <a:ext cx="3429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79392" y="141732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96712" y="141732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14032" y="141732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1947672"/>
            <a:ext cx="32004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594360" y="1947672"/>
            <a:ext cx="352044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206240" y="1947672"/>
            <a:ext cx="132588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5623560" y="1947672"/>
            <a:ext cx="132588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7040880" y="1947672"/>
            <a:ext cx="132588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256032" y="1965960"/>
            <a:ext cx="228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" y="1965960"/>
            <a:ext cx="3429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Datos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79392" y="196596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2–3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96712" y="196596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2–3.5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14032" y="196596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2496312"/>
            <a:ext cx="320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594360" y="2496312"/>
            <a:ext cx="3520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206240" y="249631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5623560" y="249631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7040880" y="249631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256032" y="2514600"/>
            <a:ext cx="228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" y="2514600"/>
            <a:ext cx="3429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79392" y="251460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96712" y="251460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14032" y="251460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2880" y="3044952"/>
            <a:ext cx="32004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594360" y="3044952"/>
            <a:ext cx="352044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4206240" y="3044952"/>
            <a:ext cx="132588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5623560" y="3044952"/>
            <a:ext cx="132588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7040880" y="3044952"/>
            <a:ext cx="132588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256032" y="3063240"/>
            <a:ext cx="228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7512" y="3063240"/>
            <a:ext cx="3429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Evaluación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279392" y="306324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4–5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96712" y="306324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4–5.5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14032" y="306324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82880" y="3593592"/>
            <a:ext cx="320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594360" y="3593592"/>
            <a:ext cx="3520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4206240" y="359359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5623560" y="359359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7040880" y="359359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Text 58"/>
          <p:cNvSpPr/>
          <p:nvPr/>
        </p:nvSpPr>
        <p:spPr>
          <a:xfrm>
            <a:off x="256032" y="3611880"/>
            <a:ext cx="228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67512" y="3611880"/>
            <a:ext cx="3429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Entrega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279392" y="361188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5–6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696712" y="361188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5–6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14032" y="3611880"/>
            <a:ext cx="1234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 err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82880" y="42976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crítica: corrección del orden de operaciones en TIENE_CUENTA y detección de data leakage en M1.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ext 65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Objetivos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del área de Productos de Crédito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Estrategia, Objetivos y Alineación Organizacional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77824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el margen del portafolio de crédito identificando los productos de mayor rentabilidad,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perfilando al cliente ideal y colocándolos eficientemente mediante modelos predictivos.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estratégicos: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286000"/>
            <a:ext cx="256032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" y="2240280"/>
            <a:ext cx="411480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502920" y="2276856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participación de Tarjeta Oro y Crédito Auto del 4% al 8%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926080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82880" y="2880360"/>
            <a:ext cx="411480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502920" y="2916936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solicitudes rechazadas mediante identificación temprana de riesgo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0"/>
            <a:ext cx="256032" cy="2560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0" y="2240280"/>
            <a:ext cx="411480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2"/>
          <p:cNvSpPr/>
          <p:nvPr/>
        </p:nvSpPr>
        <p:spPr>
          <a:xfrm>
            <a:off x="4892040" y="2276856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Pre-aprobar proactivamente clientes con alta probabilidad de aprobación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26080"/>
            <a:ext cx="256032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572000" y="2880360"/>
            <a:ext cx="411480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4"/>
          <p:cNvSpPr/>
          <p:nvPr/>
        </p:nvSpPr>
        <p:spPr>
          <a:xfrm>
            <a:off x="4892040" y="2916936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perfil sociodemográfico óptimo por producto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82880" y="35661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organizacional: Riesgo  ·  Marketing  ·  Sucursales  ·  Otorgamiento  ·  Tecnología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182880" y="3977640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17"/>
          <p:cNvSpPr/>
          <p:nvPr/>
        </p:nvSpPr>
        <p:spPr>
          <a:xfrm>
            <a:off x="182880" y="397764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18"/>
          <p:cNvSpPr/>
          <p:nvPr/>
        </p:nvSpPr>
        <p:spPr>
          <a:xfrm>
            <a:off x="274320" y="400507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274320" y="4352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tasa 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377440" y="3977640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1"/>
          <p:cNvSpPr/>
          <p:nvPr/>
        </p:nvSpPr>
        <p:spPr>
          <a:xfrm>
            <a:off x="2377440" y="397764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2"/>
          <p:cNvSpPr/>
          <p:nvPr/>
        </p:nvSpPr>
        <p:spPr>
          <a:xfrm>
            <a:off x="2468880" y="400507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2468880" y="4352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premium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(Oro + Auto)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0" y="3977640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5"/>
          <p:cNvSpPr/>
          <p:nvPr/>
        </p:nvSpPr>
        <p:spPr>
          <a:xfrm>
            <a:off x="4572000" y="397764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6"/>
          <p:cNvSpPr/>
          <p:nvPr/>
        </p:nvSpPr>
        <p:spPr>
          <a:xfrm>
            <a:off x="4663440" y="400507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4663440" y="4352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M1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766560" y="3977640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5" name="Shape 29"/>
          <p:cNvSpPr/>
          <p:nvPr/>
        </p:nvSpPr>
        <p:spPr>
          <a:xfrm>
            <a:off x="6766560" y="397764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0"/>
          <p:cNvSpPr/>
          <p:nvPr/>
        </p:nvSpPr>
        <p:spPr>
          <a:xfrm>
            <a:off x="6858000" y="400507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2200" dirty="0"/>
          </a:p>
        </p:txBody>
      </p:sp>
      <p:sp>
        <p:nvSpPr>
          <p:cNvPr id="37" name="Text 31"/>
          <p:cNvSpPr/>
          <p:nvPr/>
        </p:nvSpPr>
        <p:spPr>
          <a:xfrm>
            <a:off x="6858000" y="4352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crédito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3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Exploración, calidad y hallazgos del dataset bancario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 ·  Panorama General y Calidad de Datos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37160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0515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4,349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01752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77440" y="91440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2377440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0515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42032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27→64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2542032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(orig. → feature eng.)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17720" y="91440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4617720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10515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82312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62.4%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4782312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58000" y="91440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6858000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10515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22592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24" name="Text 18"/>
          <p:cNvSpPr/>
          <p:nvPr/>
        </p:nvSpPr>
        <p:spPr>
          <a:xfrm>
            <a:off x="7022592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resueltos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137160" y="269748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Text 19"/>
          <p:cNvSpPr/>
          <p:nvPr/>
        </p:nvSpPr>
        <p:spPr>
          <a:xfrm>
            <a:off x="443484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correcciones aplicadas: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127248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709160" y="3108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2,581 registros: typo 'RECIBOS DE NOMINA'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410712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09160" y="339242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1,433 registros: placeholder CUENTA_ASIGNADA → TIENE_CUENTA binaria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694176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709160" y="36758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registros: 'BAJO_A' corregido a 'BAJO_B'</a:t>
            </a:r>
            <a:endParaRPr lang="en-US" sz="10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977640"/>
            <a:ext cx="201168" cy="20116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709160" y="39593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registros eliminados: cuenta sin aprobación</a:t>
            </a:r>
            <a:endParaRPr lang="en-US" sz="10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261104"/>
            <a:ext cx="201168" cy="20116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709160" y="424281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Winsorización al p99: LINEA_CREDITO e INGRESO</a:t>
            </a:r>
            <a:endParaRPr lang="en-US" sz="10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544568"/>
            <a:ext cx="201168" cy="20116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709160" y="4526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columnas numéricas parseadas desde string</a:t>
            </a:r>
            <a:endParaRPr lang="en-US" sz="1000" dirty="0"/>
          </a:p>
        </p:txBody>
      </p:sp>
      <p:sp>
        <p:nvSpPr>
          <p:cNvPr id="39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27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41" name="Text 28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27 variables originales a 64 features para el modelado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·  Transformaciones aplicadas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37160" y="91440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024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005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definidos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46888" y="14447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TARGET_APROBADO (binario 0/1)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46888" y="174650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TARGET_PRODUCTO (multiclase 0/1/2)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36392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3136392" y="91440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0241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1005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informativos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46120" y="14447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FLAG_INGRESO_CERO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246120" y="174650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FLAG_SIN_SCORE_COMP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46120" y="20482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TIENE_TARJETAS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246120" y="23500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TIENE_LINEAS_REV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35624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6135624" y="91440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02412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38544" y="1005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financieros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45352" y="14447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RATIO_SALDO_LINEA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245352" y="174650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RATIO_DEUDA_INGRESO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45352" y="20482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RATIO_PAGO_INGRESO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245352" y="23500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SCORE_COMBINADO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137160" y="28803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3"/>
          <p:cNvSpPr/>
          <p:nvPr/>
        </p:nvSpPr>
        <p:spPr>
          <a:xfrm>
            <a:off x="137160" y="288036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2990088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40080" y="29718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ordinal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246888" y="34107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SEGMENTO_ORD (0–4)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46888" y="371246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NIVEL_RIESGO_ORD (0–2)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246888" y="40142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ESCOLARIDAD_ORD (0–4)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246888" y="43159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VIVIENDA_ORD (0–3)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136392" y="28803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6" name="Shape 30"/>
          <p:cNvSpPr/>
          <p:nvPr/>
        </p:nvSpPr>
        <p:spPr>
          <a:xfrm>
            <a:off x="3136392" y="288036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2990088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639312" y="29718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3246120" y="34107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COMPROBANTE_INGRESOS (4 dummies)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3246120" y="371246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TIPO_CTE (3 dummies)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6135624" y="28803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2" name="Shape 35"/>
          <p:cNvSpPr/>
          <p:nvPr/>
        </p:nvSpPr>
        <p:spPr>
          <a:xfrm>
            <a:off x="6135624" y="288036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2990088"/>
            <a:ext cx="320040" cy="32004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638544" y="29718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6245352" y="34107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StandardScaler: 10 variables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6245352" y="371246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MinMaxScaler: 3 variables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6245352" y="40142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Scalers guardados en .pkl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137160" y="4754880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variables de leakage documentadas y excluidas del modelo de aprobación (STATUS_SOLICITUD, SALDO_CUENTA, MESES_VENCIDOS, y otras post-decisión).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2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51" name="Text 43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Machine Learning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solicitudes  ·  Asignación de producto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los Modelos  ·  M1 Aprobación  +  M2 Producto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" y="8961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Aprobación  (Random Forest)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298448"/>
            <a:ext cx="1005840" cy="1005840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82880" y="13533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61872" y="1298448"/>
            <a:ext cx="1005840" cy="1005840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261872" y="13533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61872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40864" y="1298448"/>
            <a:ext cx="1005840" cy="1005840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340864" y="13533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40864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19856" y="1298448"/>
            <a:ext cx="1005840" cy="1005840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419856" y="13533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19856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" y="2377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 → reglas deterministas → métricas perfectas esperadas.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5-fold confirma estabilidad (std=0.000).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868680"/>
            <a:ext cx="0" cy="365760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754880" y="8961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Producto  (Gradient Boosting)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298448"/>
            <a:ext cx="100584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754880" y="13533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33872" y="1298448"/>
            <a:ext cx="100584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833872" y="13533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833872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12864" y="1298448"/>
            <a:ext cx="100584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6912864" y="13533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12864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91856" y="1298448"/>
            <a:ext cx="100584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7991856" y="13533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991856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2377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clase (test):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743200"/>
            <a:ext cx="1325880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4800600" y="27432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2743200"/>
            <a:ext cx="868680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6217920" y="274320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86600" y="2743200"/>
            <a:ext cx="777240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7132320" y="274320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909560" y="2743200"/>
            <a:ext cx="685800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7955280" y="2743200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595360" y="2743200"/>
            <a:ext cx="868680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8641080" y="274320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044952"/>
            <a:ext cx="1325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4800600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CLASICA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72200" y="3044952"/>
            <a:ext cx="868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621792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086600" y="3044952"/>
            <a:ext cx="777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713232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909560" y="3044952"/>
            <a:ext cx="685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7955280" y="3063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595360" y="3044952"/>
            <a:ext cx="868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864108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3383280"/>
            <a:ext cx="1325880" cy="31089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3"/>
          <p:cNvSpPr/>
          <p:nvPr/>
        </p:nvSpPr>
        <p:spPr>
          <a:xfrm>
            <a:off x="4800600" y="3401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ORO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72200" y="3383280"/>
            <a:ext cx="868680" cy="31089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5"/>
          <p:cNvSpPr/>
          <p:nvPr/>
        </p:nvSpPr>
        <p:spPr>
          <a:xfrm>
            <a:off x="6217920" y="3401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086600" y="3383280"/>
            <a:ext cx="777240" cy="31089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/>
          <p:nvPr/>
        </p:nvSpPr>
        <p:spPr>
          <a:xfrm>
            <a:off x="7132320" y="34015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909560" y="3383280"/>
            <a:ext cx="685800" cy="31089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9"/>
          <p:cNvSpPr/>
          <p:nvPr/>
        </p:nvSpPr>
        <p:spPr>
          <a:xfrm>
            <a:off x="7955280" y="3401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595360" y="3383280"/>
            <a:ext cx="868680" cy="31089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61"/>
          <p:cNvSpPr/>
          <p:nvPr/>
        </p:nvSpPr>
        <p:spPr>
          <a:xfrm>
            <a:off x="8641080" y="3401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54880" y="3721608"/>
            <a:ext cx="1325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63"/>
          <p:cNvSpPr/>
          <p:nvPr/>
        </p:nvSpPr>
        <p:spPr>
          <a:xfrm>
            <a:off x="4800600" y="37398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AUTO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72200" y="3721608"/>
            <a:ext cx="868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ext 65"/>
          <p:cNvSpPr/>
          <p:nvPr/>
        </p:nvSpPr>
        <p:spPr>
          <a:xfrm>
            <a:off x="6217920" y="373989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086600" y="3721608"/>
            <a:ext cx="777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67"/>
          <p:cNvSpPr/>
          <p:nvPr/>
        </p:nvSpPr>
        <p:spPr>
          <a:xfrm>
            <a:off x="7132320" y="37398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909560" y="3721608"/>
            <a:ext cx="685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Text 69"/>
          <p:cNvSpPr/>
          <p:nvPr/>
        </p:nvSpPr>
        <p:spPr>
          <a:xfrm>
            <a:off x="7955280" y="37398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595360" y="3721608"/>
            <a:ext cx="868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Text 71"/>
          <p:cNvSpPr/>
          <p:nvPr/>
        </p:nvSpPr>
        <p:spPr>
          <a:xfrm>
            <a:off x="8641080" y="373989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754880" y="40873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aplicado al train (k=3) para compensar desbalance extremo: 96.1% CLASICA / 1.5% ORO / 2.4% AUTO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Text 74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variables más influyen en cada decisión?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868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Aprobación  (Random Forest)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37160" y="1207008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617720" y="822960"/>
            <a:ext cx="0" cy="411480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4754880" y="868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Producto  (Gradient Boosting)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709160" y="1207008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7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Propuesta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y recomendaciones de negocio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Propuesta de Negocio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8961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280160"/>
            <a:ext cx="4343400" cy="694944"/>
          </a:xfrm>
          <a:prstGeom prst="rect">
            <a:avLst/>
          </a:prstGeom>
          <a:solidFill>
            <a:srgbClr val="FDEDEC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20040" y="1335024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Score es el predictor dominante de aprobación (47.9% de importancia combinada)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2048256"/>
            <a:ext cx="4343400" cy="694944"/>
          </a:xfrm>
          <a:prstGeom prst="rect">
            <a:avLst/>
          </a:prstGeom>
          <a:solidFill>
            <a:srgbClr val="FDEDEC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82880" y="2048256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20040" y="21031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de Crédito asignada determina el producto en un 30.7%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816352"/>
            <a:ext cx="4343400" cy="694944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182880" y="2816352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20040" y="287121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3.9% del portafolio aprobado son productos premium (Oro + Auto)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3584448"/>
            <a:ext cx="4343400" cy="694944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82880" y="3584448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20040" y="36393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de clientes sin score de comportamiento = alto segmento no fidelizado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868680"/>
            <a:ext cx="0" cy="39319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800600" y="896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de negocio: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28016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800600" y="1280160"/>
            <a:ext cx="54864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937760" y="13350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Pre-aprobación proactiva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6824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M1 en CRM: identificar y ofertar crédito a clientes con probabilidad &gt;80% antes de que lo soliciten.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3774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800600" y="2377440"/>
            <a:ext cx="54864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937760" y="24323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por producto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77977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segmentos: Candidatos CLASICA / ORO (score&gt;220, ingreso&gt;25K) / AUTO (ratio deuda/ingreso &lt;0.3).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47472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4800600" y="3474720"/>
            <a:ext cx="54864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937760" y="35295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PENDIENTES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8770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62.3% del portafolio no tiene producto. M1 prioriza revisión de los más probables de aprobar.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" y="4526280"/>
            <a:ext cx="8778240" cy="228600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274320" y="45445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sintético: resultados de M1 no son reproducibles en datos reales — en producción se esperan métricas entre 0.75 y 0.90.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274320" y="487375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1227</Words>
  <Application>Microsoft Office PowerPoint</Application>
  <PresentationFormat>Presentación en pantalla (16:9)</PresentationFormat>
  <Paragraphs>265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Dirección de Productos de Crédito</dc:title>
  <dc:subject>Proyecto Final — Minería de Datos FI UNAM</dc:subject>
  <dc:creator>Minería de Datos UNAM</dc:creator>
  <cp:lastModifiedBy>OSCAR IVAN MONTIEL JUAREZ</cp:lastModifiedBy>
  <cp:revision>2</cp:revision>
  <dcterms:created xsi:type="dcterms:W3CDTF">2026-05-10T00:49:56Z</dcterms:created>
  <dcterms:modified xsi:type="dcterms:W3CDTF">2026-05-10T00:55:11Z</dcterms:modified>
</cp:coreProperties>
</file>