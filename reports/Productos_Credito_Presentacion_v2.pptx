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166-465D-A51C-D9F2E08F800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166-465D-A51C-D9F2E08F800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166-465D-A51C-D9F2E08F800F}"/>
              </c:ext>
            </c:extLst>
          </c:dPt>
          <c:dPt>
            <c:idx val="3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66-465D-A51C-D9F2E08F800F}"/>
              </c:ext>
            </c:extLst>
          </c:dPt>
          <c:dPt>
            <c:idx val="4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166-465D-A51C-D9F2E08F800F}"/>
              </c:ext>
            </c:extLst>
          </c:dPt>
          <c:dPt>
            <c:idx val="5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166-465D-A51C-D9F2E08F800F}"/>
              </c:ext>
            </c:extLst>
          </c:dPt>
          <c:dPt>
            <c:idx val="6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166-465D-A51C-D9F2E08F800F}"/>
              </c:ext>
            </c:extLst>
          </c:dPt>
          <c:dPt>
            <c:idx val="7"/>
            <c:invertIfNegative val="0"/>
            <c:bubble3D val="0"/>
            <c:spPr>
              <a:solidFill>
                <a:srgbClr val="E880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166-465D-A51C-D9F2E08F80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2F4E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SCORE COMBINADO</c:v>
                </c:pt>
                <c:pt idx="1">
                  <c:v>SCORE CLIENTE STD</c:v>
                </c:pt>
                <c:pt idx="2">
                  <c:v>SOLICITUDES RECHAZO</c:v>
                </c:pt>
                <c:pt idx="3">
                  <c:v>CAPACIDAD PAGO</c:v>
                </c:pt>
                <c:pt idx="4">
                  <c:v>SCORE COMPORTAM.</c:v>
                </c:pt>
                <c:pt idx="5">
                  <c:v>FLAG SIN SCORE</c:v>
                </c:pt>
                <c:pt idx="6">
                  <c:v>TIPO CTE MALO</c:v>
                </c:pt>
                <c:pt idx="7">
                  <c:v>NIVEL RIESGO ORD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24.3</c:v>
                </c:pt>
                <c:pt idx="1">
                  <c:v>23.6</c:v>
                </c:pt>
                <c:pt idx="2">
                  <c:v>10.3</c:v>
                </c:pt>
                <c:pt idx="3">
                  <c:v>8.6</c:v>
                </c:pt>
                <c:pt idx="4">
                  <c:v>8.3000000000000007</c:v>
                </c:pt>
                <c:pt idx="5">
                  <c:v>5.6</c:v>
                </c:pt>
                <c:pt idx="6">
                  <c:v>5.4</c:v>
                </c:pt>
                <c:pt idx="7">
                  <c:v>4.5999999999999996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166-465D-A51C-D9F2E08F80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Importancia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4F-4A35-A6B5-E8A6C6ED9CBB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A4F-4A35-A6B5-E8A6C6ED9CBB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A4F-4A35-A6B5-E8A6C6ED9CBB}"/>
              </c:ext>
            </c:extLst>
          </c:dPt>
          <c:dPt>
            <c:idx val="3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4F-4A35-A6B5-E8A6C6ED9CBB}"/>
              </c:ext>
            </c:extLst>
          </c:dPt>
          <c:dPt>
            <c:idx val="4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A4F-4A35-A6B5-E8A6C6ED9CBB}"/>
              </c:ext>
            </c:extLst>
          </c:dPt>
          <c:dPt>
            <c:idx val="5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A4F-4A35-A6B5-E8A6C6ED9CBB}"/>
              </c:ext>
            </c:extLst>
          </c:dPt>
          <c:dPt>
            <c:idx val="6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A4F-4A35-A6B5-E8A6C6ED9CBB}"/>
              </c:ext>
            </c:extLst>
          </c:dPt>
          <c:dPt>
            <c:idx val="7"/>
            <c:invertIfNegative val="0"/>
            <c:bubble3D val="0"/>
            <c:spPr>
              <a:solidFill>
                <a:srgbClr val="70B2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A4F-4A35-A6B5-E8A6C6ED9CB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A2F4E"/>
                    </a:solidFill>
                    <a:latin typeface="Arial"/>
                  </a:defRPr>
                </a:pPr>
                <a:endParaRPr lang="es-MX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LINEA CREDITO FINAL</c:v>
                </c:pt>
                <c:pt idx="1">
                  <c:v>SALDO CUENTA</c:v>
                </c:pt>
                <c:pt idx="2">
                  <c:v>INGRESO INFERIDO</c:v>
                </c:pt>
                <c:pt idx="3">
                  <c:v>CAPACIDAD TC</c:v>
                </c:pt>
                <c:pt idx="4">
                  <c:v>CAPACIDAD PAGO</c:v>
                </c:pt>
                <c:pt idx="5">
                  <c:v>RATIO SALDO LINEA</c:v>
                </c:pt>
                <c:pt idx="6">
                  <c:v>RATIO REVOLVENTE</c:v>
                </c:pt>
                <c:pt idx="7">
                  <c:v>TIENE LINEAS REV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30.7</c:v>
                </c:pt>
                <c:pt idx="1">
                  <c:v>15.7</c:v>
                </c:pt>
                <c:pt idx="2">
                  <c:v>6.2</c:v>
                </c:pt>
                <c:pt idx="3">
                  <c:v>4.4000000000000004</c:v>
                </c:pt>
                <c:pt idx="4">
                  <c:v>3.9</c:v>
                </c:pt>
                <c:pt idx="5">
                  <c:v>3.6</c:v>
                </c:pt>
                <c:pt idx="6">
                  <c:v>3.4</c:v>
                </c:pt>
                <c:pt idx="7">
                  <c:v>2.6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A4F-4A35-A6B5-E8A6C6ED9CB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F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C75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22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0" y="1280160"/>
            <a:ext cx="164592" cy="3108960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AUTÓNOMA DE MÉXICO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38404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Ingeniería  ·  Minería de Datos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71323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de Crédito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2944368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predictivo del portafolio bancario mediante Machine 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4343400"/>
            <a:ext cx="841248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274320" y="44165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Integrante 1  ·  Nombre Integrante 2  ·  Nombre Integrante 3  ·  Nombre Integrante 4  ·  Nombre Integrante 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" y="468172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 la presentación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64592" y="91440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01752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01752" y="1481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" y="1965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ejecución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999232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9"/>
          <p:cNvSpPr/>
          <p:nvPr/>
        </p:nvSpPr>
        <p:spPr>
          <a:xfrm>
            <a:off x="2999232" y="91440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136392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136392" y="1481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Objetivos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36392" y="1965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área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33872" y="91440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5833872" y="91440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5971032" y="100584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971032" y="14813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71032" y="19659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calidad y correlaciones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4592" y="25603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164592" y="25603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301752" y="2651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301752" y="31272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01752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construidas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999232" y="25603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2999232" y="25603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3136392" y="2651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136392" y="31272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ML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136392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y producto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33872" y="25603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5833872" y="2560320"/>
            <a:ext cx="274320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5971032" y="2651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971032" y="312724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971032" y="36118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y propuesta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Proyecto  ·  Simulación bancaria FI UNAM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4864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28016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987552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banco simulado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33502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áreas directivas: Productos de Crédito, Otorgamiento, Sucursales, Riesgo, Tecnología, Marketing y Operaciones. Cada equipo define su estrategia y un director participa en comité organizacional.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2176272"/>
            <a:ext cx="8778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182880" y="2176272"/>
            <a:ext cx="54864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54203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22960" y="2249424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 rol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822960" y="2596896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— identificar los productos con mejor margen (Tarjeta Oro y Crédito Auto), maximizar su colocación y garantizar la alineación con la estrategia organizacional.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3438144"/>
            <a:ext cx="8778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182880" y="3438144"/>
            <a:ext cx="54864" cy="11430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80390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2960" y="3511296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822960" y="3858768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bancaria compartida: 4,349 solicitudes de crédito con 27 variables originales. Misma fuente para todos los equipos — los modelos deben ser consistentes entre áreas.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015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ejecución del proyecto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 ·  Planeado vs Real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310896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237744" y="914400"/>
            <a:ext cx="25603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914400"/>
            <a:ext cx="2249424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621792" y="91440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89504" y="914400"/>
            <a:ext cx="969264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944368" y="9144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Planeado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914400"/>
            <a:ext cx="877824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3986784" y="914400"/>
            <a:ext cx="822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82896" y="914400"/>
            <a:ext cx="969264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937760" y="914400"/>
            <a:ext cx="914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25312" y="914400"/>
            <a:ext cx="3346704" cy="329184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5980176" y="914400"/>
            <a:ext cx="3291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Observación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2880" y="1280160"/>
            <a:ext cx="3108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Shape 16"/>
          <p:cNvSpPr/>
          <p:nvPr/>
        </p:nvSpPr>
        <p:spPr>
          <a:xfrm>
            <a:off x="566928" y="1280160"/>
            <a:ext cx="22494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2889504" y="1280160"/>
            <a:ext cx="96926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931920" y="1280160"/>
            <a:ext cx="8778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4882896" y="1280160"/>
            <a:ext cx="96926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5925312" y="1280160"/>
            <a:ext cx="33467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37744" y="1316736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" y="1316736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(EDA)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944368" y="1316736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86784" y="1316736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1–2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1316736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80176" y="1316736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de nulos, outliers y distribuciones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1956816"/>
            <a:ext cx="310896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Shape 28"/>
          <p:cNvSpPr/>
          <p:nvPr/>
        </p:nvSpPr>
        <p:spPr>
          <a:xfrm>
            <a:off x="566928" y="1956816"/>
            <a:ext cx="224942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9"/>
          <p:cNvSpPr/>
          <p:nvPr/>
        </p:nvSpPr>
        <p:spPr>
          <a:xfrm>
            <a:off x="2889504" y="1956816"/>
            <a:ext cx="96926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3931920" y="1956816"/>
            <a:ext cx="87782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Shape 31"/>
          <p:cNvSpPr/>
          <p:nvPr/>
        </p:nvSpPr>
        <p:spPr>
          <a:xfrm>
            <a:off x="4882896" y="1956816"/>
            <a:ext cx="96926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5925312" y="1956816"/>
            <a:ext cx="334670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237744" y="1993392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1792" y="1993392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de Datos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944368" y="1993392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2–3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986784" y="1993392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2–3.5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37760" y="1993392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0176" y="1993392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2,654 registros corregidos; bug TIENE_CUENTA detectado y resuelto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82880" y="2633472"/>
            <a:ext cx="3108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Shape 40"/>
          <p:cNvSpPr/>
          <p:nvPr/>
        </p:nvSpPr>
        <p:spPr>
          <a:xfrm>
            <a:off x="566928" y="2633472"/>
            <a:ext cx="22494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41"/>
          <p:cNvSpPr/>
          <p:nvPr/>
        </p:nvSpPr>
        <p:spPr>
          <a:xfrm>
            <a:off x="2889504" y="2633472"/>
            <a:ext cx="96926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Shape 42"/>
          <p:cNvSpPr/>
          <p:nvPr/>
        </p:nvSpPr>
        <p:spPr>
          <a:xfrm>
            <a:off x="3931920" y="2633472"/>
            <a:ext cx="8778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Shape 43"/>
          <p:cNvSpPr/>
          <p:nvPr/>
        </p:nvSpPr>
        <p:spPr>
          <a:xfrm>
            <a:off x="4882896" y="2633472"/>
            <a:ext cx="96926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Shape 44"/>
          <p:cNvSpPr/>
          <p:nvPr/>
        </p:nvSpPr>
        <p:spPr>
          <a:xfrm>
            <a:off x="5925312" y="2633472"/>
            <a:ext cx="33467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237744" y="2670048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1792" y="2670048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944368" y="2670048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986784" y="2670048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3–4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937760" y="2670048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80176" y="2670048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nuevas variables; 9 de leakage documentadas y excluidas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182880" y="3310128"/>
            <a:ext cx="310896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Shape 52"/>
          <p:cNvSpPr/>
          <p:nvPr/>
        </p:nvSpPr>
        <p:spPr>
          <a:xfrm>
            <a:off x="566928" y="3310128"/>
            <a:ext cx="224942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5" name="Shape 53"/>
          <p:cNvSpPr/>
          <p:nvPr/>
        </p:nvSpPr>
        <p:spPr>
          <a:xfrm>
            <a:off x="2889504" y="3310128"/>
            <a:ext cx="96926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Shape 54"/>
          <p:cNvSpPr/>
          <p:nvPr/>
        </p:nvSpPr>
        <p:spPr>
          <a:xfrm>
            <a:off x="3931920" y="3310128"/>
            <a:ext cx="87782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7" name="Shape 55"/>
          <p:cNvSpPr/>
          <p:nvPr/>
        </p:nvSpPr>
        <p:spPr>
          <a:xfrm>
            <a:off x="4882896" y="3310128"/>
            <a:ext cx="96926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Shape 56"/>
          <p:cNvSpPr/>
          <p:nvPr/>
        </p:nvSpPr>
        <p:spPr>
          <a:xfrm>
            <a:off x="5925312" y="3310128"/>
            <a:ext cx="3346704" cy="64008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9" name="Text 57"/>
          <p:cNvSpPr/>
          <p:nvPr/>
        </p:nvSpPr>
        <p:spPr>
          <a:xfrm>
            <a:off x="237744" y="3346704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1792" y="3346704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Evaluación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2944368" y="3346704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4–5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3986784" y="3346704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4–5.5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937760" y="3346704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Completado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980176" y="3346704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y validación cruzada incorporados; 2 modelos finales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182880" y="3986784"/>
            <a:ext cx="31089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Shape 64"/>
          <p:cNvSpPr/>
          <p:nvPr/>
        </p:nvSpPr>
        <p:spPr>
          <a:xfrm>
            <a:off x="566928" y="3986784"/>
            <a:ext cx="22494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7" name="Shape 65"/>
          <p:cNvSpPr/>
          <p:nvPr/>
        </p:nvSpPr>
        <p:spPr>
          <a:xfrm>
            <a:off x="2889504" y="3986784"/>
            <a:ext cx="96926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Shape 66"/>
          <p:cNvSpPr/>
          <p:nvPr/>
        </p:nvSpPr>
        <p:spPr>
          <a:xfrm>
            <a:off x="3931920" y="3986784"/>
            <a:ext cx="87782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9" name="Shape 67"/>
          <p:cNvSpPr/>
          <p:nvPr/>
        </p:nvSpPr>
        <p:spPr>
          <a:xfrm>
            <a:off x="4882896" y="3986784"/>
            <a:ext cx="96926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Shape 68"/>
          <p:cNvSpPr/>
          <p:nvPr/>
        </p:nvSpPr>
        <p:spPr>
          <a:xfrm>
            <a:off x="5925312" y="3986784"/>
            <a:ext cx="3346704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1" name="Text 69"/>
          <p:cNvSpPr/>
          <p:nvPr/>
        </p:nvSpPr>
        <p:spPr>
          <a:xfrm>
            <a:off x="237744" y="4023360"/>
            <a:ext cx="2377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621792" y="4023360"/>
            <a:ext cx="2176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Presentación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2944368" y="4023360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3986784" y="4023360"/>
            <a:ext cx="8046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5–6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937760" y="4023360"/>
            <a:ext cx="8961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proceso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980176" y="402336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Word, notebooks, README y presentación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Text 7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Objetivos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015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del área de Productos de Crédito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del Área  ·  Misión y Objetivos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77724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47472" y="969264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Misión: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47472" y="124358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el margen del portafolio de crédito identificando los productos de mayor rentabilidad, perfilando con precisión al cliente ideal y colocándolos eficientemente mediante modelos predictivos.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" y="178308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estratégicos: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217627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82880" y="2176272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523744"/>
            <a:ext cx="347472" cy="34747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77240" y="2249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Incrementar mix premium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777240" y="26334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Oro y Crédito Auto del 3.9% actual al 8% del portafolio aprobado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17720" y="217627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5" name="Shape 12"/>
          <p:cNvSpPr/>
          <p:nvPr/>
        </p:nvSpPr>
        <p:spPr>
          <a:xfrm>
            <a:off x="4617720" y="2176272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523744"/>
            <a:ext cx="347472" cy="34747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24942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Pre-aprobación proactiva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5212080" y="263347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M1 en CRM: ofertar crédito antes de que el cliente lo solicite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182880" y="341071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182880" y="3410712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3758184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77240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rechazos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77240" y="38679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temprana de riesgo bajo para acelerar aprobación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4617720" y="3410712"/>
            <a:ext cx="4251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5" name="Shape 20"/>
          <p:cNvSpPr/>
          <p:nvPr/>
        </p:nvSpPr>
        <p:spPr>
          <a:xfrm>
            <a:off x="4617720" y="3410712"/>
            <a:ext cx="54864" cy="10972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3758184"/>
            <a:ext cx="347472" cy="3474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212080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por producto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212080" y="3867912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cliente ideal para CLASICA, ORO y AUTO con datos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4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del Área  ·  Alineación Organizacional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332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47472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tasa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2395728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332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60320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premium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(Oro + Auto)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08576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4608576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0332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73168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&gt;95%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773168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M1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21424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821424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10332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86016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+15%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6986016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crédito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82880" y="2724912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Alineación con la organización:</a:t>
            </a:r>
            <a:endParaRPr 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182880" y="3108960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1"/>
          <p:cNvSpPr/>
          <p:nvPr/>
        </p:nvSpPr>
        <p:spPr>
          <a:xfrm>
            <a:off x="182880" y="3108960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2"/>
          <p:cNvSpPr/>
          <p:nvPr/>
        </p:nvSpPr>
        <p:spPr>
          <a:xfrm>
            <a:off x="320040" y="316382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Riesgo: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280160" y="31638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respetan límites de tolerancia al riesgo. NIVEL_RIESGO_ORD es feature clave.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182880" y="3630168"/>
            <a:ext cx="434340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Shape 25"/>
          <p:cNvSpPr/>
          <p:nvPr/>
        </p:nvSpPr>
        <p:spPr>
          <a:xfrm>
            <a:off x="182880" y="3630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6"/>
          <p:cNvSpPr/>
          <p:nvPr/>
        </p:nvSpPr>
        <p:spPr>
          <a:xfrm>
            <a:off x="320040" y="36850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Marketing: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280160" y="36850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Perfiles de cliente por producto son el insumo para campañas de oferta proactiva.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182880" y="4151376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29"/>
          <p:cNvSpPr/>
          <p:nvPr/>
        </p:nvSpPr>
        <p:spPr>
          <a:xfrm>
            <a:off x="182880" y="4151376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0"/>
          <p:cNvSpPr/>
          <p:nvPr/>
        </p:nvSpPr>
        <p:spPr>
          <a:xfrm>
            <a:off x="320040" y="4206240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Sucursales: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280160" y="420624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M1 recomienda producto antes de la entrevista con el cliente.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4709160" y="3108960"/>
            <a:ext cx="4343400" cy="475488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Shape 33"/>
          <p:cNvSpPr/>
          <p:nvPr/>
        </p:nvSpPr>
        <p:spPr>
          <a:xfrm>
            <a:off x="4709160" y="3108960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4"/>
          <p:cNvSpPr/>
          <p:nvPr/>
        </p:nvSpPr>
        <p:spPr>
          <a:xfrm>
            <a:off x="4846320" y="3163824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Otorgamiento: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5806440" y="3163824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automatiza la pre-aprobación del proceso de evaluación de solicitudes.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709160" y="3630168"/>
            <a:ext cx="4343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Shape 37"/>
          <p:cNvSpPr/>
          <p:nvPr/>
        </p:nvSpPr>
        <p:spPr>
          <a:xfrm>
            <a:off x="4709160" y="3630168"/>
            <a:ext cx="54864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8"/>
          <p:cNvSpPr/>
          <p:nvPr/>
        </p:nvSpPr>
        <p:spPr>
          <a:xfrm>
            <a:off x="4846320" y="3685032"/>
            <a:ext cx="1005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Tecnología:</a:t>
            </a:r>
            <a:endParaRPr lang="en-US" sz="1000" dirty="0"/>
          </a:p>
        </p:txBody>
      </p:sp>
      <p:sp>
        <p:nvSpPr>
          <p:cNvPr id="45" name="Text 39"/>
          <p:cNvSpPr/>
          <p:nvPr/>
        </p:nvSpPr>
        <p:spPr>
          <a:xfrm>
            <a:off x="5806440" y="3685032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.pkl listos para despliegue como servicio de scoring en tiempo real.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1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48" name="Text 42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015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EDA, calidad y correlaciones del dataset bancario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  ·  Panorama General y Distribución de Productos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332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417320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47472" y="2029968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2880" y="1901952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182880" y="1901952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02082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7472" y="2404872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27→64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347472" y="3017520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orig. → feature eng.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82880" y="2889504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182880" y="2889504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" y="3008376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47472" y="3392424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347472" y="4005072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rechazadas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82880" y="3877056"/>
            <a:ext cx="26517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182880" y="3877056"/>
            <a:ext cx="54864" cy="89611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" y="399592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47472" y="4379976"/>
            <a:ext cx="23957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347472" y="4992624"/>
            <a:ext cx="2395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sucursales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distintas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017520" y="914400"/>
            <a:ext cx="5943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y línea de crédito promedio por producto:</a:t>
            </a:r>
            <a:endParaRPr lang="en-US" sz="120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1298448"/>
            <a:ext cx="5943600" cy="320040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3017520" y="4544568"/>
            <a:ext cx="5943600" cy="256032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1"/>
          <p:cNvSpPr/>
          <p:nvPr/>
        </p:nvSpPr>
        <p:spPr>
          <a:xfrm>
            <a:off x="3063240" y="455371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CREDITO_AUTO: $237,785 promedio  ·  TARJETA_ORO: $170,408  ·  CLASICA: $21,883  →  10x diferencia de margen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3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1" name="Text 24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de Datos  ·  Hallazgos y Correcciones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0332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7472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47472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95728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1" name="Shape 8"/>
          <p:cNvSpPr/>
          <p:nvPr/>
        </p:nvSpPr>
        <p:spPr>
          <a:xfrm>
            <a:off x="2395728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0332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60320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2,654</a:t>
            </a:r>
            <a:endParaRPr lang="en-US" sz="2800" dirty="0"/>
          </a:p>
        </p:txBody>
      </p:sp>
      <p:sp>
        <p:nvSpPr>
          <p:cNvPr id="14" name="Text 10"/>
          <p:cNvSpPr/>
          <p:nvPr/>
        </p:nvSpPr>
        <p:spPr>
          <a:xfrm>
            <a:off x="2560320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corregidos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608576" y="914400"/>
            <a:ext cx="208483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2"/>
          <p:cNvSpPr/>
          <p:nvPr/>
        </p:nvSpPr>
        <p:spPr>
          <a:xfrm>
            <a:off x="4608576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3168" y="10332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73168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4"/>
          <p:cNvSpPr/>
          <p:nvPr/>
        </p:nvSpPr>
        <p:spPr>
          <a:xfrm>
            <a:off x="4773168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821424" y="914400"/>
            <a:ext cx="2084832" cy="1691640"/>
          </a:xfrm>
          <a:prstGeom prst="rect">
            <a:avLst/>
          </a:prstGeom>
          <a:solidFill>
            <a:srgbClr val="E9F7E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1" name="Shape 16"/>
          <p:cNvSpPr/>
          <p:nvPr/>
        </p:nvSpPr>
        <p:spPr>
          <a:xfrm>
            <a:off x="6821424" y="914400"/>
            <a:ext cx="54864" cy="1691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6016" y="10332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86016" y="14173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800" dirty="0"/>
          </a:p>
        </p:txBody>
      </p:sp>
      <p:sp>
        <p:nvSpPr>
          <p:cNvPr id="24" name="Text 18"/>
          <p:cNvSpPr/>
          <p:nvPr/>
        </p:nvSpPr>
        <p:spPr>
          <a:xfrm>
            <a:off x="6986016" y="20299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sin nulos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182880" y="2697480"/>
            <a:ext cx="1792224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0"/>
          <p:cNvSpPr/>
          <p:nvPr/>
        </p:nvSpPr>
        <p:spPr>
          <a:xfrm>
            <a:off x="228600" y="2697480"/>
            <a:ext cx="17556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problema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2048256" y="2697480"/>
            <a:ext cx="2157984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2"/>
          <p:cNvSpPr/>
          <p:nvPr/>
        </p:nvSpPr>
        <p:spPr>
          <a:xfrm>
            <a:off x="2093976" y="2697480"/>
            <a:ext cx="21214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4279392" y="2697480"/>
            <a:ext cx="877824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4"/>
          <p:cNvSpPr/>
          <p:nvPr/>
        </p:nvSpPr>
        <p:spPr>
          <a:xfrm>
            <a:off x="4325112" y="2697480"/>
            <a:ext cx="84124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5230368" y="2697480"/>
            <a:ext cx="3986784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26"/>
          <p:cNvSpPr/>
          <p:nvPr/>
        </p:nvSpPr>
        <p:spPr>
          <a:xfrm>
            <a:off x="5276088" y="2697480"/>
            <a:ext cx="395020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tomada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182880" y="2999232"/>
            <a:ext cx="17922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28"/>
          <p:cNvSpPr/>
          <p:nvPr/>
        </p:nvSpPr>
        <p:spPr>
          <a:xfrm>
            <a:off x="228600" y="3017520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 catálogo</a:t>
            </a:r>
            <a:endParaRPr lang="en-US" sz="850" dirty="0"/>
          </a:p>
        </p:txBody>
      </p:sp>
      <p:sp>
        <p:nvSpPr>
          <p:cNvPr id="35" name="Shape 29"/>
          <p:cNvSpPr/>
          <p:nvPr/>
        </p:nvSpPr>
        <p:spPr>
          <a:xfrm>
            <a:off x="2048256" y="2999232"/>
            <a:ext cx="21579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0"/>
          <p:cNvSpPr/>
          <p:nvPr/>
        </p:nvSpPr>
        <p:spPr>
          <a:xfrm>
            <a:off x="2093976" y="3017520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COMPROBANTE_INGRESOS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4279392" y="2999232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2"/>
          <p:cNvSpPr/>
          <p:nvPr/>
        </p:nvSpPr>
        <p:spPr>
          <a:xfrm>
            <a:off x="4325112" y="3017520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2,581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5230368" y="2999232"/>
            <a:ext cx="39867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4"/>
          <p:cNvSpPr/>
          <p:nvPr/>
        </p:nvSpPr>
        <p:spPr>
          <a:xfrm>
            <a:off x="5276088" y="3017520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'RECIBOS DE NOMINA' → 'RECIBO DE NOMINA'</a:t>
            </a:r>
            <a:endParaRPr lang="en-US" sz="850" dirty="0"/>
          </a:p>
        </p:txBody>
      </p:sp>
      <p:sp>
        <p:nvSpPr>
          <p:cNvPr id="41" name="Shape 35"/>
          <p:cNvSpPr/>
          <p:nvPr/>
        </p:nvSpPr>
        <p:spPr>
          <a:xfrm>
            <a:off x="182880" y="3232404"/>
            <a:ext cx="17922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36"/>
          <p:cNvSpPr/>
          <p:nvPr/>
        </p:nvSpPr>
        <p:spPr>
          <a:xfrm>
            <a:off x="228600" y="3250692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sistema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2048256" y="3232404"/>
            <a:ext cx="21579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38"/>
          <p:cNvSpPr/>
          <p:nvPr/>
        </p:nvSpPr>
        <p:spPr>
          <a:xfrm>
            <a:off x="2093976" y="3250692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CUENTA_ASIGNADA</a:t>
            </a:r>
            <a:endParaRPr lang="en-US" sz="850" dirty="0"/>
          </a:p>
        </p:txBody>
      </p:sp>
      <p:sp>
        <p:nvSpPr>
          <p:cNvPr id="45" name="Shape 39"/>
          <p:cNvSpPr/>
          <p:nvPr/>
        </p:nvSpPr>
        <p:spPr>
          <a:xfrm>
            <a:off x="4279392" y="3232404"/>
            <a:ext cx="8778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0"/>
          <p:cNvSpPr/>
          <p:nvPr/>
        </p:nvSpPr>
        <p:spPr>
          <a:xfrm>
            <a:off x="4325112" y="3250692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1,433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5230368" y="3232404"/>
            <a:ext cx="39867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8" name="Text 42"/>
          <p:cNvSpPr/>
          <p:nvPr/>
        </p:nvSpPr>
        <p:spPr>
          <a:xfrm>
            <a:off x="5276088" y="3250692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998...0 → NaN + TIENE_CUENTA binaria</a:t>
            </a:r>
            <a:endParaRPr lang="en-US" sz="850" dirty="0"/>
          </a:p>
        </p:txBody>
      </p:sp>
      <p:sp>
        <p:nvSpPr>
          <p:cNvPr id="49" name="Shape 43"/>
          <p:cNvSpPr/>
          <p:nvPr/>
        </p:nvSpPr>
        <p:spPr>
          <a:xfrm>
            <a:off x="182880" y="3465576"/>
            <a:ext cx="17922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0" name="Text 44"/>
          <p:cNvSpPr/>
          <p:nvPr/>
        </p:nvSpPr>
        <p:spPr>
          <a:xfrm>
            <a:off x="228600" y="3483864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fuera catálogo</a:t>
            </a:r>
            <a:endParaRPr lang="en-US" sz="850" dirty="0"/>
          </a:p>
        </p:txBody>
      </p:sp>
      <p:sp>
        <p:nvSpPr>
          <p:cNvPr id="51" name="Shape 45"/>
          <p:cNvSpPr/>
          <p:nvPr/>
        </p:nvSpPr>
        <p:spPr>
          <a:xfrm>
            <a:off x="2048256" y="3465576"/>
            <a:ext cx="21579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6"/>
          <p:cNvSpPr/>
          <p:nvPr/>
        </p:nvSpPr>
        <p:spPr>
          <a:xfrm>
            <a:off x="2093976" y="3483864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SEGMENTO_CLIENTE</a:t>
            </a:r>
            <a:endParaRPr lang="en-US" sz="850" dirty="0"/>
          </a:p>
        </p:txBody>
      </p:sp>
      <p:sp>
        <p:nvSpPr>
          <p:cNvPr id="53" name="Shape 47"/>
          <p:cNvSpPr/>
          <p:nvPr/>
        </p:nvSpPr>
        <p:spPr>
          <a:xfrm>
            <a:off x="4279392" y="3465576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4" name="Text 48"/>
          <p:cNvSpPr/>
          <p:nvPr/>
        </p:nvSpPr>
        <p:spPr>
          <a:xfrm>
            <a:off x="4325112" y="3483864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</a:t>
            </a:r>
            <a:endParaRPr lang="en-US" sz="850" dirty="0"/>
          </a:p>
        </p:txBody>
      </p:sp>
      <p:sp>
        <p:nvSpPr>
          <p:cNvPr id="55" name="Shape 49"/>
          <p:cNvSpPr/>
          <p:nvPr/>
        </p:nvSpPr>
        <p:spPr>
          <a:xfrm>
            <a:off x="5230368" y="3465576"/>
            <a:ext cx="39867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6" name="Text 50"/>
          <p:cNvSpPr/>
          <p:nvPr/>
        </p:nvSpPr>
        <p:spPr>
          <a:xfrm>
            <a:off x="5276088" y="3483864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'BAJO_A' → 'BAJO_B' (no existe en catálogo)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182880" y="3698748"/>
            <a:ext cx="17922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8" name="Text 52"/>
          <p:cNvSpPr/>
          <p:nvPr/>
        </p:nvSpPr>
        <p:spPr>
          <a:xfrm>
            <a:off x="228600" y="3717036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invisible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2048256" y="3698748"/>
            <a:ext cx="21579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0" name="Text 54"/>
          <p:cNvSpPr/>
          <p:nvPr/>
        </p:nvSpPr>
        <p:spPr>
          <a:xfrm>
            <a:off x="2093976" y="3717036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NIVEL_RIESGO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4279392" y="3698748"/>
            <a:ext cx="8778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2" name="Text 56"/>
          <p:cNvSpPr/>
          <p:nvPr/>
        </p:nvSpPr>
        <p:spPr>
          <a:xfrm>
            <a:off x="4325112" y="3717036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N/A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5230368" y="3698748"/>
            <a:ext cx="39867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4" name="Text 58"/>
          <p:cNvSpPr/>
          <p:nvPr/>
        </p:nvSpPr>
        <p:spPr>
          <a:xfrm>
            <a:off x="5276088" y="3717036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global a todas las columnas string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182880" y="3931920"/>
            <a:ext cx="17922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6" name="Text 60"/>
          <p:cNvSpPr/>
          <p:nvPr/>
        </p:nvSpPr>
        <p:spPr>
          <a:xfrm>
            <a:off x="228600" y="3950208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 como string</a:t>
            </a:r>
            <a:endParaRPr lang="en-US" sz="850" dirty="0"/>
          </a:p>
        </p:txBody>
      </p:sp>
      <p:sp>
        <p:nvSpPr>
          <p:cNvPr id="67" name="Shape 61"/>
          <p:cNvSpPr/>
          <p:nvPr/>
        </p:nvSpPr>
        <p:spPr>
          <a:xfrm>
            <a:off x="2048256" y="3931920"/>
            <a:ext cx="21579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8" name="Text 62"/>
          <p:cNvSpPr/>
          <p:nvPr/>
        </p:nvSpPr>
        <p:spPr>
          <a:xfrm>
            <a:off x="2093976" y="3950208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SALDO_CUENTA, CAPACIDAD_TC, CAPACIDAD_PAGO</a:t>
            </a:r>
            <a:endParaRPr lang="en-US" sz="850" dirty="0"/>
          </a:p>
        </p:txBody>
      </p:sp>
      <p:sp>
        <p:nvSpPr>
          <p:cNvPr id="69" name="Shape 63"/>
          <p:cNvSpPr/>
          <p:nvPr/>
        </p:nvSpPr>
        <p:spPr>
          <a:xfrm>
            <a:off x="4279392" y="3931920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0" name="Text 64"/>
          <p:cNvSpPr/>
          <p:nvPr/>
        </p:nvSpPr>
        <p:spPr>
          <a:xfrm>
            <a:off x="4325112" y="3950208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4,349</a:t>
            </a:r>
            <a:endParaRPr lang="en-US" sz="850" dirty="0"/>
          </a:p>
        </p:txBody>
      </p:sp>
      <p:sp>
        <p:nvSpPr>
          <p:cNvPr id="71" name="Shape 65"/>
          <p:cNvSpPr/>
          <p:nvPr/>
        </p:nvSpPr>
        <p:spPr>
          <a:xfrm>
            <a:off x="5230368" y="3931920"/>
            <a:ext cx="39867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2" name="Text 66"/>
          <p:cNvSpPr/>
          <p:nvPr/>
        </p:nvSpPr>
        <p:spPr>
          <a:xfrm>
            <a:off x="5276088" y="3950208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Parseadas y convertidas a float64</a:t>
            </a:r>
            <a:endParaRPr lang="en-US" sz="850" dirty="0"/>
          </a:p>
        </p:txBody>
      </p:sp>
      <p:sp>
        <p:nvSpPr>
          <p:cNvPr id="73" name="Shape 67"/>
          <p:cNvSpPr/>
          <p:nvPr/>
        </p:nvSpPr>
        <p:spPr>
          <a:xfrm>
            <a:off x="182880" y="4165092"/>
            <a:ext cx="17922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4" name="Text 68"/>
          <p:cNvSpPr/>
          <p:nvPr/>
        </p:nvSpPr>
        <p:spPr>
          <a:xfrm>
            <a:off x="228600" y="4183380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en montos</a:t>
            </a:r>
            <a:endParaRPr lang="en-US" sz="850" dirty="0"/>
          </a:p>
        </p:txBody>
      </p:sp>
      <p:sp>
        <p:nvSpPr>
          <p:cNvPr id="75" name="Shape 69"/>
          <p:cNvSpPr/>
          <p:nvPr/>
        </p:nvSpPr>
        <p:spPr>
          <a:xfrm>
            <a:off x="2048256" y="4165092"/>
            <a:ext cx="21579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6" name="Text 70"/>
          <p:cNvSpPr/>
          <p:nvPr/>
        </p:nvSpPr>
        <p:spPr>
          <a:xfrm>
            <a:off x="2093976" y="4183380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LINEA_CREDITO, INGRESO_INFERIDO</a:t>
            </a:r>
            <a:endParaRPr lang="en-US" sz="850" dirty="0"/>
          </a:p>
        </p:txBody>
      </p:sp>
      <p:sp>
        <p:nvSpPr>
          <p:cNvPr id="77" name="Shape 71"/>
          <p:cNvSpPr/>
          <p:nvPr/>
        </p:nvSpPr>
        <p:spPr>
          <a:xfrm>
            <a:off x="4279392" y="4165092"/>
            <a:ext cx="8778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8" name="Text 72"/>
          <p:cNvSpPr/>
          <p:nvPr/>
        </p:nvSpPr>
        <p:spPr>
          <a:xfrm>
            <a:off x="4325112" y="4183380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850" dirty="0"/>
          </a:p>
        </p:txBody>
      </p:sp>
      <p:sp>
        <p:nvSpPr>
          <p:cNvPr id="79" name="Shape 73"/>
          <p:cNvSpPr/>
          <p:nvPr/>
        </p:nvSpPr>
        <p:spPr>
          <a:xfrm>
            <a:off x="5230368" y="4165092"/>
            <a:ext cx="39867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0" name="Text 74"/>
          <p:cNvSpPr/>
          <p:nvPr/>
        </p:nvSpPr>
        <p:spPr>
          <a:xfrm>
            <a:off x="5276088" y="4183380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Winsorización al percentil 99</a:t>
            </a:r>
            <a:endParaRPr lang="en-US" sz="850" dirty="0"/>
          </a:p>
        </p:txBody>
      </p:sp>
      <p:sp>
        <p:nvSpPr>
          <p:cNvPr id="81" name="Shape 75"/>
          <p:cNvSpPr/>
          <p:nvPr/>
        </p:nvSpPr>
        <p:spPr>
          <a:xfrm>
            <a:off x="182880" y="4398264"/>
            <a:ext cx="17922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2" name="Text 76"/>
          <p:cNvSpPr/>
          <p:nvPr/>
        </p:nvSpPr>
        <p:spPr>
          <a:xfrm>
            <a:off x="228600" y="4416552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Inconsistencia negocio</a:t>
            </a:r>
            <a:endParaRPr lang="en-US" sz="850" dirty="0"/>
          </a:p>
        </p:txBody>
      </p:sp>
      <p:sp>
        <p:nvSpPr>
          <p:cNvPr id="83" name="Shape 77"/>
          <p:cNvSpPr/>
          <p:nvPr/>
        </p:nvSpPr>
        <p:spPr>
          <a:xfrm>
            <a:off x="2048256" y="4398264"/>
            <a:ext cx="21579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4" name="Text 78"/>
          <p:cNvSpPr/>
          <p:nvPr/>
        </p:nvSpPr>
        <p:spPr>
          <a:xfrm>
            <a:off x="2093976" y="4416552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+ CUENTA_ASIGNADA</a:t>
            </a:r>
            <a:endParaRPr lang="en-US" sz="850" dirty="0"/>
          </a:p>
        </p:txBody>
      </p:sp>
      <p:sp>
        <p:nvSpPr>
          <p:cNvPr id="85" name="Shape 79"/>
          <p:cNvSpPr/>
          <p:nvPr/>
        </p:nvSpPr>
        <p:spPr>
          <a:xfrm>
            <a:off x="4279392" y="4398264"/>
            <a:ext cx="87782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6" name="Text 80"/>
          <p:cNvSpPr/>
          <p:nvPr/>
        </p:nvSpPr>
        <p:spPr>
          <a:xfrm>
            <a:off x="4325112" y="4416552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  <p:sp>
        <p:nvSpPr>
          <p:cNvPr id="87" name="Shape 81"/>
          <p:cNvSpPr/>
          <p:nvPr/>
        </p:nvSpPr>
        <p:spPr>
          <a:xfrm>
            <a:off x="5230368" y="4398264"/>
            <a:ext cx="3986784" cy="219456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8" name="Text 82"/>
          <p:cNvSpPr/>
          <p:nvPr/>
        </p:nvSpPr>
        <p:spPr>
          <a:xfrm>
            <a:off x="5276088" y="4416552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 (cuenta asignada sin aprobación)</a:t>
            </a:r>
            <a:endParaRPr lang="en-US" sz="850" dirty="0"/>
          </a:p>
        </p:txBody>
      </p:sp>
      <p:sp>
        <p:nvSpPr>
          <p:cNvPr id="89" name="Shape 83"/>
          <p:cNvSpPr/>
          <p:nvPr/>
        </p:nvSpPr>
        <p:spPr>
          <a:xfrm>
            <a:off x="182880" y="4631436"/>
            <a:ext cx="17922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0" name="Text 84"/>
          <p:cNvSpPr/>
          <p:nvPr/>
        </p:nvSpPr>
        <p:spPr>
          <a:xfrm>
            <a:off x="228600" y="4649724"/>
            <a:ext cx="17465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Nulos estructurales</a:t>
            </a:r>
            <a:endParaRPr lang="en-US" sz="850" dirty="0"/>
          </a:p>
        </p:txBody>
      </p:sp>
      <p:sp>
        <p:nvSpPr>
          <p:cNvPr id="91" name="Shape 85"/>
          <p:cNvSpPr/>
          <p:nvPr/>
        </p:nvSpPr>
        <p:spPr>
          <a:xfrm>
            <a:off x="2048256" y="4631436"/>
            <a:ext cx="21579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2" name="Text 86"/>
          <p:cNvSpPr/>
          <p:nvPr/>
        </p:nvSpPr>
        <p:spPr>
          <a:xfrm>
            <a:off x="2093976" y="4649724"/>
            <a:ext cx="21122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SALDO_CUENTA, CAPACIDAD_TC</a:t>
            </a:r>
            <a:endParaRPr lang="en-US" sz="850" dirty="0"/>
          </a:p>
        </p:txBody>
      </p:sp>
      <p:sp>
        <p:nvSpPr>
          <p:cNvPr id="93" name="Shape 87"/>
          <p:cNvSpPr/>
          <p:nvPr/>
        </p:nvSpPr>
        <p:spPr>
          <a:xfrm>
            <a:off x="4279392" y="4631436"/>
            <a:ext cx="87782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4" name="Text 88"/>
          <p:cNvSpPr/>
          <p:nvPr/>
        </p:nvSpPr>
        <p:spPr>
          <a:xfrm>
            <a:off x="4325112" y="4649724"/>
            <a:ext cx="8321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</a:t>
            </a:r>
            <a:endParaRPr lang="en-US" sz="850" dirty="0"/>
          </a:p>
        </p:txBody>
      </p:sp>
      <p:sp>
        <p:nvSpPr>
          <p:cNvPr id="95" name="Shape 89"/>
          <p:cNvSpPr/>
          <p:nvPr/>
        </p:nvSpPr>
        <p:spPr>
          <a:xfrm>
            <a:off x="5230368" y="4631436"/>
            <a:ext cx="3986784" cy="219456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6" name="Text 90"/>
          <p:cNvSpPr/>
          <p:nvPr/>
        </p:nvSpPr>
        <p:spPr>
          <a:xfrm>
            <a:off x="5276088" y="4649724"/>
            <a:ext cx="394106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Imputados con 0 (sin cuenta = sin saldo)</a:t>
            </a:r>
            <a:endParaRPr lang="en-US" sz="850" dirty="0"/>
          </a:p>
        </p:txBody>
      </p:sp>
      <p:sp>
        <p:nvSpPr>
          <p:cNvPr id="97" name="Shape 9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8" name="Text 92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9" name="Text 93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Correlaciones con el Target  ·  ¿Qué variables predicen la aprobación?</a:t>
            </a:r>
            <a:endParaRPr lang="en-US" sz="2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896112"/>
            <a:ext cx="5303520" cy="39136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0" y="9144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35331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8" name="Shape 5"/>
          <p:cNvSpPr/>
          <p:nvPr/>
        </p:nvSpPr>
        <p:spPr>
          <a:xfrm>
            <a:off x="5669280" y="1353312"/>
            <a:ext cx="4572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14813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035040" y="13898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Cliente STD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35040" y="160934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0.926  — el predictor más fuerte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669280" y="190195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9"/>
          <p:cNvSpPr/>
          <p:nvPr/>
        </p:nvSpPr>
        <p:spPr>
          <a:xfrm>
            <a:off x="5669280" y="1901952"/>
            <a:ext cx="4572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20299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193852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Combinado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6035040" y="215798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0.917  — confirma el dominio del score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669280" y="245059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8" name="Shape 13"/>
          <p:cNvSpPr/>
          <p:nvPr/>
        </p:nvSpPr>
        <p:spPr>
          <a:xfrm>
            <a:off x="5669280" y="2450592"/>
            <a:ext cx="457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2578608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35040" y="248716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Sin Score Comp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6035040" y="270662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-0.901 — sin historial = rechazo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5669280" y="299923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3" name="Shape 17"/>
          <p:cNvSpPr/>
          <p:nvPr/>
        </p:nvSpPr>
        <p:spPr>
          <a:xfrm>
            <a:off x="5669280" y="2999232"/>
            <a:ext cx="457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3127248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35040" y="303580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Tipo_CTE Malo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6035040" y="325526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-0.901 — clasificación mala = rechazo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669280" y="354787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1"/>
          <p:cNvSpPr/>
          <p:nvPr/>
        </p:nvSpPr>
        <p:spPr>
          <a:xfrm>
            <a:off x="5669280" y="3547872"/>
            <a:ext cx="4572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36758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035040" y="358444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Comportamiento</a:t>
            </a:r>
            <a:endParaRPr lang="en-US" sz="1000" dirty="0"/>
          </a:p>
        </p:txBody>
      </p:sp>
      <p:sp>
        <p:nvSpPr>
          <p:cNvPr id="31" name="Text 23"/>
          <p:cNvSpPr/>
          <p:nvPr/>
        </p:nvSpPr>
        <p:spPr>
          <a:xfrm>
            <a:off x="6035040" y="380390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0.899  — historial bancario positivo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5669280" y="4096512"/>
            <a:ext cx="32918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3" name="Shape 25"/>
          <p:cNvSpPr/>
          <p:nvPr/>
        </p:nvSpPr>
        <p:spPr>
          <a:xfrm>
            <a:off x="5669280" y="4096512"/>
            <a:ext cx="45720" cy="5029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2432" y="4224528"/>
            <a:ext cx="237744" cy="23774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035040" y="4133088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Riesgo ORD</a:t>
            </a:r>
            <a:endParaRPr lang="en-US" sz="1000" dirty="0"/>
          </a:p>
        </p:txBody>
      </p:sp>
      <p:sp>
        <p:nvSpPr>
          <p:cNvPr id="36" name="Text 27"/>
          <p:cNvSpPr/>
          <p:nvPr/>
        </p:nvSpPr>
        <p:spPr>
          <a:xfrm>
            <a:off x="6035040" y="4352544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-0.872 — riesgo alto → rechazado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29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9" name="Text 30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015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27 variables originales a 64 features para modelado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Aplicadas  ·  36 Nuevas Variables Creadas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64592" y="91440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64592" y="91440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24128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1005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(2)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142646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TARGET_APROBADO binario 0/1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74320" y="170078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TARGET_PRODUCTO multiclase 0/1/2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163824" y="91440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9"/>
          <p:cNvSpPr/>
          <p:nvPr/>
        </p:nvSpPr>
        <p:spPr>
          <a:xfrm>
            <a:off x="3163824" y="91440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02412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57600" y="1005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informativos (4)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273552" y="142646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FLAG_INGRESO_CERO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73552" y="170078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FLAG_SIN_SCORE_COMP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273552" y="19751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TIENE_TARJETAS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273552" y="224942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TIENE_LINEAS_REV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163056" y="914400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6"/>
          <p:cNvSpPr/>
          <p:nvPr/>
        </p:nvSpPr>
        <p:spPr>
          <a:xfrm>
            <a:off x="6163056" y="914400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102412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56832" y="1005840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financieros (5)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272784" y="142646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RATIO_SALDO_LINEA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72784" y="170078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RATIO_DEUDA_INGRESO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72784" y="197510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RATIO_PAGO_INGRESO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6272784" y="224942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RATIO_REVOLVENTE_ING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6272784" y="2523744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SCORE_COMBINADO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164592" y="2907792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9" name="Shape 24"/>
          <p:cNvSpPr/>
          <p:nvPr/>
        </p:nvSpPr>
        <p:spPr>
          <a:xfrm>
            <a:off x="164592" y="2907792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3017520"/>
            <a:ext cx="310896" cy="31089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58368" y="29992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ordinal (5)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274320" y="341985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SEGMENTO_ORD (0–4)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274320" y="369417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NIVEL_RIESGO_ORD (0–2)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274320" y="396849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ESCOLARIDAD_ORD (0–4)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274320" y="424281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MESES_VENCIDOS_ORD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274320" y="451713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VIVIENDA_ORD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3163824" y="2907792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8" name="Shape 32"/>
          <p:cNvSpPr/>
          <p:nvPr/>
        </p:nvSpPr>
        <p:spPr>
          <a:xfrm>
            <a:off x="3163824" y="2907792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3552" y="3017520"/>
            <a:ext cx="310896" cy="310896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657600" y="29992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(7 dummies)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3273552" y="341985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COMPROBANTE_INGRESOS (4)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3273552" y="369417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TIPO_CTE (3)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6163056" y="2907792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44" name="Shape 37"/>
          <p:cNvSpPr/>
          <p:nvPr/>
        </p:nvSpPr>
        <p:spPr>
          <a:xfrm>
            <a:off x="6163056" y="2907792"/>
            <a:ext cx="283464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3017520"/>
            <a:ext cx="310896" cy="310896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656832" y="2999232"/>
            <a:ext cx="22677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(13)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6272784" y="341985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StandardScaler: 10 vars</a:t>
            </a:r>
            <a:endParaRPr lang="en-US" sz="1000" dirty="0"/>
          </a:p>
        </p:txBody>
      </p:sp>
      <p:sp>
        <p:nvSpPr>
          <p:cNvPr id="48" name="Text 40"/>
          <p:cNvSpPr/>
          <p:nvPr/>
        </p:nvSpPr>
        <p:spPr>
          <a:xfrm>
            <a:off x="6272784" y="369417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MinMaxScaler: 3 vars</a:t>
            </a:r>
            <a:endParaRPr lang="en-US" sz="1000" dirty="0"/>
          </a:p>
        </p:txBody>
      </p:sp>
      <p:sp>
        <p:nvSpPr>
          <p:cNvPr id="49" name="Text 41"/>
          <p:cNvSpPr/>
          <p:nvPr/>
        </p:nvSpPr>
        <p:spPr>
          <a:xfrm>
            <a:off x="6272784" y="3968496"/>
            <a:ext cx="26517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Scalers guardados .pkl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164592" y="4736592"/>
            <a:ext cx="88148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variables de leakage excluidas del M1 (STATUS_SOLICITUD, SALDO_CUENTA, MESES_VENCIDOS, TIENE_CUENTA, LINEA_CREDITO_FINAL y otras post-aprobación).</a:t>
            </a:r>
            <a:endParaRPr lang="en-US" sz="900" dirty="0"/>
          </a:p>
        </p:txBody>
      </p:sp>
      <p:sp>
        <p:nvSpPr>
          <p:cNvPr id="51" name="Shape 4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2" name="Text 44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53" name="Text 45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0" b="1" dirty="0">
                <a:solidFill>
                  <a:srgbClr val="FDE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0" dirty="0"/>
          </a:p>
        </p:txBody>
      </p:sp>
      <p:sp>
        <p:nvSpPr>
          <p:cNvPr id="5" name="Text 3"/>
          <p:cNvSpPr/>
          <p:nvPr/>
        </p:nvSpPr>
        <p:spPr>
          <a:xfrm>
            <a:off x="457200" y="23317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Machine Learning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401568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de solicitudes  ·  Asignación de producto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Técnica  ·  Parámetros de los Algoritmos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8778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54864" cy="1207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8778240" cy="320040"/>
          </a:xfrm>
          <a:prstGeom prst="rect">
            <a:avLst/>
          </a:prstGeom>
          <a:solidFill>
            <a:srgbClr val="EBF5FB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47472" y="9601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 (baseline M1)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261872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solver: lbfgs  ·  penalty: L2 (Ridge)  ·  C: 1.0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1481328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max_iter: 1,000  ·  class_weight: balanced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" y="1700784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Features: 31 (SUCURSAL excluida — 200 categorías sin codificar)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82512" y="1261872"/>
            <a:ext cx="2487168" cy="786384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6446520" y="128016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46520" y="1481328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interpretable. Coeficientes explican el peso de cada variable para regulación.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" y="2212848"/>
            <a:ext cx="8778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82880" y="2212848"/>
            <a:ext cx="54864" cy="120700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182880" y="2212848"/>
            <a:ext cx="8778240" cy="32004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347472" y="225856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(M1 final  +  M2 comparación)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" y="2560320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n_estimators: 300 árboles  ·  max_depth: None (hojas puras)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2779776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max_features: sqrt(n_features)  ·  class_weight: balanced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" y="2999232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n_jobs: -1 (todos los núcleos disponibles)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82512" y="2560320"/>
            <a:ext cx="2487168" cy="786384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6446520" y="2578608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46520" y="2779776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robusto. Feature importances son el insumo para la propuesta de negocio.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3511296"/>
            <a:ext cx="8778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6" name="Shape 24"/>
          <p:cNvSpPr/>
          <p:nvPr/>
        </p:nvSpPr>
        <p:spPr>
          <a:xfrm>
            <a:off x="182880" y="3511296"/>
            <a:ext cx="54864" cy="120700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182880" y="3511296"/>
            <a:ext cx="8778240" cy="320040"/>
          </a:xfrm>
          <a:prstGeom prst="rect">
            <a:avLst/>
          </a:prstGeom>
          <a:solidFill>
            <a:srgbClr val="E9F7E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47472" y="355701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(M2 final  +  M1 comparación)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47472" y="3858768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n_estimators: 200  ·  learning_rate: 0.1  ·  max_depth: 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47472" y="4078224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Árboles poco profundos (weak learners) combinados secuencialmente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7472" y="4297680"/>
            <a:ext cx="5943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Desbalance compensado con sample_weight manual en el fit()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82512" y="3858768"/>
            <a:ext cx="2487168" cy="786384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446520" y="3877056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qué?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46520" y="4078224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rendimiento en M2 por su capacidad de aprender patrones complejos con pocas muestras.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Modelo de Aprobación  ·  Resultados y Curva ROC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1440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en test (870 registros):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1883664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219456" y="1280160"/>
            <a:ext cx="186537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9696" y="1280160"/>
            <a:ext cx="676656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2176272" y="1280160"/>
            <a:ext cx="6583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89504" y="1280160"/>
            <a:ext cx="676656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6583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39312" y="1280160"/>
            <a:ext cx="676656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675888" y="1280160"/>
            <a:ext cx="6583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389120" y="1280160"/>
            <a:ext cx="676656" cy="301752"/>
          </a:xfrm>
          <a:prstGeom prst="rect">
            <a:avLst/>
          </a:prstGeom>
          <a:solidFill>
            <a:srgbClr val="1A2F4E"/>
          </a:solidFill>
          <a:ln w="12700">
            <a:solidFill>
              <a:srgbClr val="1A2F4E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4425696" y="1280160"/>
            <a:ext cx="658368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82880" y="1581912"/>
            <a:ext cx="18836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228600" y="1618488"/>
            <a:ext cx="18379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39696" y="1581912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9" name="Text 17"/>
          <p:cNvSpPr/>
          <p:nvPr/>
        </p:nvSpPr>
        <p:spPr>
          <a:xfrm>
            <a:off x="2185416" y="1618488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0.9954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889504" y="1581912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2935224" y="1618488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0.9938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39312" y="1581912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3685032" y="1618488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1581912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434840" y="1618488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0.9902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2880" y="1984248"/>
            <a:ext cx="1883664" cy="37490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7" name="Text 25"/>
          <p:cNvSpPr/>
          <p:nvPr/>
        </p:nvSpPr>
        <p:spPr>
          <a:xfrm>
            <a:off x="228600" y="2020824"/>
            <a:ext cx="18379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39696" y="1984248"/>
            <a:ext cx="676656" cy="37490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2185416" y="2020824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889504" y="1984248"/>
            <a:ext cx="676656" cy="37490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1" name="Text 29"/>
          <p:cNvSpPr/>
          <p:nvPr/>
        </p:nvSpPr>
        <p:spPr>
          <a:xfrm>
            <a:off x="2935224" y="2020824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39312" y="1984248"/>
            <a:ext cx="676656" cy="37490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3685032" y="2020824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389120" y="1984248"/>
            <a:ext cx="676656" cy="374904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Text 33"/>
          <p:cNvSpPr/>
          <p:nvPr/>
        </p:nvSpPr>
        <p:spPr>
          <a:xfrm>
            <a:off x="4434840" y="2020824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82880" y="2386584"/>
            <a:ext cx="1883664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7" name="Text 35"/>
          <p:cNvSpPr/>
          <p:nvPr/>
        </p:nvSpPr>
        <p:spPr>
          <a:xfrm>
            <a:off x="228600" y="2423160"/>
            <a:ext cx="1837944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39696" y="2386584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9" name="Text 37"/>
          <p:cNvSpPr/>
          <p:nvPr/>
        </p:nvSpPr>
        <p:spPr>
          <a:xfrm>
            <a:off x="2185416" y="2423160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889504" y="2386584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1" name="Text 39"/>
          <p:cNvSpPr/>
          <p:nvPr/>
        </p:nvSpPr>
        <p:spPr>
          <a:xfrm>
            <a:off x="2935224" y="2423160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39312" y="2386584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3" name="Text 41"/>
          <p:cNvSpPr/>
          <p:nvPr/>
        </p:nvSpPr>
        <p:spPr>
          <a:xfrm>
            <a:off x="3685032" y="2423160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389120" y="2386584"/>
            <a:ext cx="676656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5" name="Text 43"/>
          <p:cNvSpPr/>
          <p:nvPr/>
        </p:nvSpPr>
        <p:spPr>
          <a:xfrm>
            <a:off x="4434840" y="2423160"/>
            <a:ext cx="630936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1.0000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2450592"/>
            <a:ext cx="4956048" cy="59436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7" name="Text 45"/>
          <p:cNvSpPr/>
          <p:nvPr/>
        </p:nvSpPr>
        <p:spPr>
          <a:xfrm>
            <a:off x="320040" y="24871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5-fold (Random Forest):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" y="27157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[1.0, 1.0, 1.0, 1.0, 1.0]  ·  std=0.000  —  Confirma estabilidad, no es overfitting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2880" y="3108960"/>
            <a:ext cx="49560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100%? Dataset sintético con reglas deterministas basadas en el score.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91440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 comparativa:</a:t>
            </a:r>
            <a:endParaRPr lang="en-US" sz="1200" dirty="0"/>
          </a:p>
        </p:txBody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261872"/>
            <a:ext cx="3703320" cy="3337560"/>
          </a:xfrm>
          <a:prstGeom prst="rect">
            <a:avLst/>
          </a:prstGeom>
        </p:spPr>
      </p:pic>
      <p:sp>
        <p:nvSpPr>
          <p:cNvPr id="52" name="Shape 4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3" name="Text 50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Modelo de Producto  ·  SMOTE + Matriz de Confusión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14400"/>
            <a:ext cx="8778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Resultados en test (328 registros):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280160"/>
            <a:ext cx="2084832" cy="658368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182880" y="131673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0.874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" y="1645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95728" y="1280160"/>
            <a:ext cx="2084832" cy="658368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2395728" y="131673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95728" y="1645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Kappa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08576" y="1280160"/>
            <a:ext cx="2084832" cy="658368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08576" y="131673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08576" y="1645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21424" y="1280160"/>
            <a:ext cx="2084832" cy="658368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6821424" y="1316736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21424" y="1645920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" y="2011680"/>
            <a:ext cx="5029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y después del SMOTE:</a:t>
            </a:r>
            <a:endParaRPr lang="en-US" sz="12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2359152"/>
            <a:ext cx="5029200" cy="233172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94960" y="2011680"/>
            <a:ext cx="3566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(Gradient Boosting):</a:t>
            </a:r>
            <a:endParaRPr lang="en-US" sz="12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331720"/>
            <a:ext cx="3291840" cy="237744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19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  ·  ¿Qué variables más influyen en cada modelo?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8686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Aprobación  (Random Forest)</a:t>
            </a:r>
            <a:endParaRPr lang="en-US" sz="12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37160" y="1207008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4617720" y="822960"/>
            <a:ext cx="0" cy="406908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5"/>
          <p:cNvSpPr/>
          <p:nvPr/>
        </p:nvSpPr>
        <p:spPr>
          <a:xfrm>
            <a:off x="4754880" y="868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Producto  (Gradient Boosting)</a:t>
            </a:r>
            <a:endParaRPr lang="en-US" sz="12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09160" y="1207008"/>
          <a:ext cx="4297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7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64592" cy="822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365760" y="73152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 Propuesta de Negocio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14400"/>
            <a:ext cx="4297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Hallazgos clave: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298448"/>
            <a:ext cx="4297680" cy="5943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182880" y="1298448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predictor dominante de aprobación (47.9% importancia combinada)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1956816"/>
            <a:ext cx="4297680" cy="594360"/>
          </a:xfrm>
          <a:prstGeom prst="rect">
            <a:avLst/>
          </a:prstGeom>
          <a:solidFill>
            <a:srgbClr val="FDEDEC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182880" y="1956816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320040" y="2029968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CREDITO_AUTO tiene 10x más línea que CLASICA ($237K vs $21K) → mayor margen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" y="2615184"/>
            <a:ext cx="42976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182880" y="2615184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20040" y="2688336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del portafolio sin producto asignado — oportunidad enorme de colocación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82880" y="3273552"/>
            <a:ext cx="42976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6" name="Shape 14"/>
          <p:cNvSpPr/>
          <p:nvPr/>
        </p:nvSpPr>
        <p:spPr>
          <a:xfrm>
            <a:off x="182880" y="3273552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7" name="Text 15"/>
          <p:cNvSpPr/>
          <p:nvPr/>
        </p:nvSpPr>
        <p:spPr>
          <a:xfrm>
            <a:off x="320040" y="334670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 de clientes sin score de comportamiento = segmento no fidelizado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82880" y="3931920"/>
            <a:ext cx="4297680" cy="594360"/>
          </a:xfrm>
          <a:prstGeom prst="rect">
            <a:avLst/>
          </a:prstGeom>
          <a:solidFill>
            <a:srgbClr val="F8F9FA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9" name="Shape 17"/>
          <p:cNvSpPr/>
          <p:nvPr/>
        </p:nvSpPr>
        <p:spPr>
          <a:xfrm>
            <a:off x="182880" y="3931920"/>
            <a:ext cx="54864" cy="5943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320040" y="4005072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de crédito determina el producto asignado en un 30.7%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0" cy="397764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800600" y="91440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Propuestas de negocio: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00600" y="129844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4" name="Shape 22"/>
          <p:cNvSpPr/>
          <p:nvPr/>
        </p:nvSpPr>
        <p:spPr>
          <a:xfrm>
            <a:off x="4800600" y="1298448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5" name="Text 23"/>
          <p:cNvSpPr/>
          <p:nvPr/>
        </p:nvSpPr>
        <p:spPr>
          <a:xfrm>
            <a:off x="4937760" y="135331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Pre-aprobación proactiva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170078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M1 en CRM: identificar clientes con probabilidad &gt;80% y ofertar antes de que soliciten. Reduce ciclo de días a horas.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239572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4800600" y="2395728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4937760" y="245059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por producto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37760" y="279806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CLASICA / ORO (score&gt;220, ingreso&gt;$25K) / AUTO (ratio deuda/ingreso &lt;0.3). Campañas dirigidas con el perfil correcto.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493008"/>
            <a:ext cx="4160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4800600" y="3493008"/>
            <a:ext cx="54864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4937760" y="35478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Reducir volumen PENDIENTE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3895344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F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62.3% sin producto. M1 prioriza revisión de los más aprobables, reduciendo el backlog de solicitudes en proceso.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" y="4572000"/>
            <a:ext cx="8778240" cy="228600"/>
          </a:xfrm>
          <a:prstGeom prst="rect">
            <a:avLst/>
          </a:prstGeom>
          <a:solidFill>
            <a:srgbClr val="FDEDEC"/>
          </a:solidFill>
          <a:ln w="12700">
            <a:solidFill>
              <a:srgbClr val="F5B7B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274320" y="458114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sintético: M1 alcanzó 100% por reglas deterministas. En producción se esperan métricas entre 0.75–0.90 con datos reales.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274320" y="4873752"/>
            <a:ext cx="6858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Productos de Crédito  ·  Minería de Datos  ·  FI UNAM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772400" y="487375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1943</Words>
  <Application>Microsoft Office PowerPoint</Application>
  <PresentationFormat>Presentación en pantalla (16:9)</PresentationFormat>
  <Paragraphs>362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Dirección de Productos de Crédito</dc:title>
  <dc:subject>PptxGenJS Presentation</dc:subject>
  <dc:creator>Minería de Datos UNAM</dc:creator>
  <cp:lastModifiedBy>OSCAR IVAN MONTIEL JUAREZ</cp:lastModifiedBy>
  <cp:revision>2</cp:revision>
  <dcterms:created xsi:type="dcterms:W3CDTF">2026-05-10T01:09:42Z</dcterms:created>
  <dcterms:modified xsi:type="dcterms:W3CDTF">2026-05-10T01:12:32Z</dcterms:modified>
</cp:coreProperties>
</file>